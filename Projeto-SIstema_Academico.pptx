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K Grotesk Medium" charset="1" panose="00000600000000000000"/>
      <p:regular r:id="rId12"/>
    </p:embeddedFont>
    <p:embeddedFont>
      <p:font typeface="Open Sans" charset="1" panose="020B0606030504020204"/>
      <p:regular r:id="rId13"/>
    </p:embeddedFont>
    <p:embeddedFont>
      <p:font typeface="HK Grotesk" charset="1" panose="00000500000000000000"/>
      <p:regular r:id="rId14"/>
    </p:embeddedFont>
    <p:embeddedFont>
      <p:font typeface="HK Grotesk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slide2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Relationship Id="rId5" Target="slide2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585800">
            <a:off x="9130449" y="-781151"/>
            <a:ext cx="11397727" cy="11397727"/>
          </a:xfrm>
          <a:custGeom>
            <a:avLst/>
            <a:gdLst/>
            <a:ahLst/>
            <a:cxnLst/>
            <a:rect r="r" b="b" t="t" l="l"/>
            <a:pathLst>
              <a:path h="11397727" w="11397727">
                <a:moveTo>
                  <a:pt x="11397727" y="11397727"/>
                </a:moveTo>
                <a:lnTo>
                  <a:pt x="0" y="11397727"/>
                </a:lnTo>
                <a:lnTo>
                  <a:pt x="0" y="0"/>
                </a:lnTo>
                <a:lnTo>
                  <a:pt x="11397727" y="0"/>
                </a:lnTo>
                <a:lnTo>
                  <a:pt x="11397727" y="11397727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7107714">
            <a:off x="-1741631" y="891209"/>
            <a:ext cx="11397727" cy="11397727"/>
          </a:xfrm>
          <a:custGeom>
            <a:avLst/>
            <a:gdLst/>
            <a:ahLst/>
            <a:cxnLst/>
            <a:rect r="r" b="b" t="t" l="l"/>
            <a:pathLst>
              <a:path h="11397727" w="11397727">
                <a:moveTo>
                  <a:pt x="11397727" y="11397728"/>
                </a:moveTo>
                <a:lnTo>
                  <a:pt x="0" y="11397728"/>
                </a:lnTo>
                <a:lnTo>
                  <a:pt x="0" y="0"/>
                </a:lnTo>
                <a:lnTo>
                  <a:pt x="11397727" y="0"/>
                </a:lnTo>
                <a:lnTo>
                  <a:pt x="11397727" y="11397728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70897" y="3649304"/>
            <a:ext cx="13120005" cy="1694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0"/>
              </a:lnSpc>
            </a:pPr>
            <a:r>
              <a:rPr lang="en-US" b="true" sz="119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Plano de Negocios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99840" y="5597050"/>
            <a:ext cx="12088320" cy="12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71"/>
              </a:lnSpc>
            </a:pPr>
            <a:r>
              <a:rPr lang="en-US" b="true" sz="870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Lean Canvas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48335" y="262402"/>
            <a:ext cx="3400036" cy="747639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254492" y="7957674"/>
            <a:ext cx="8793899" cy="2066924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4" id="4"/>
          <p:cNvSpPr/>
          <p:nvPr/>
        </p:nvSpPr>
        <p:spPr>
          <a:xfrm rot="0">
            <a:off x="9237557" y="7957674"/>
            <a:ext cx="8793899" cy="2066924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5" id="5"/>
          <p:cNvSpPr/>
          <p:nvPr/>
        </p:nvSpPr>
        <p:spPr>
          <a:xfrm rot="0">
            <a:off x="3845234" y="262402"/>
            <a:ext cx="3387247" cy="36269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6" id="6"/>
          <p:cNvSpPr/>
          <p:nvPr/>
        </p:nvSpPr>
        <p:spPr>
          <a:xfrm rot="0">
            <a:off x="7450376" y="262402"/>
            <a:ext cx="3387247" cy="747639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7" id="7"/>
          <p:cNvSpPr/>
          <p:nvPr/>
        </p:nvSpPr>
        <p:spPr>
          <a:xfrm rot="0">
            <a:off x="3845234" y="4111868"/>
            <a:ext cx="3387247" cy="36269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8" id="8"/>
          <p:cNvSpPr/>
          <p:nvPr/>
        </p:nvSpPr>
        <p:spPr>
          <a:xfrm rot="0">
            <a:off x="11038430" y="262402"/>
            <a:ext cx="3387247" cy="36269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9" id="9"/>
          <p:cNvSpPr/>
          <p:nvPr/>
        </p:nvSpPr>
        <p:spPr>
          <a:xfrm rot="0">
            <a:off x="11044078" y="4111868"/>
            <a:ext cx="3387247" cy="36269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0" id="10"/>
          <p:cNvSpPr/>
          <p:nvPr/>
        </p:nvSpPr>
        <p:spPr>
          <a:xfrm rot="0">
            <a:off x="14639629" y="262402"/>
            <a:ext cx="3387247" cy="747639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11" id="11"/>
          <p:cNvSpPr/>
          <p:nvPr/>
        </p:nvSpPr>
        <p:spPr>
          <a:xfrm flipH="false" flipV="false" rot="0">
            <a:off x="248335" y="4380777"/>
            <a:ext cx="3400036" cy="3358014"/>
          </a:xfrm>
          <a:custGeom>
            <a:avLst/>
            <a:gdLst/>
            <a:ahLst/>
            <a:cxnLst/>
            <a:rect r="r" b="b" t="t" l="l"/>
            <a:pathLst>
              <a:path h="3358014" w="3400036">
                <a:moveTo>
                  <a:pt x="0" y="0"/>
                </a:moveTo>
                <a:lnTo>
                  <a:pt x="3400036" y="0"/>
                </a:lnTo>
                <a:lnTo>
                  <a:pt x="3400036" y="3358014"/>
                </a:lnTo>
                <a:lnTo>
                  <a:pt x="0" y="335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5" r="0" b="-62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9112" y="650461"/>
            <a:ext cx="281848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u="sng">
                <a:solidFill>
                  <a:srgbClr val="FF862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Problema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9112" y="1043673"/>
            <a:ext cx="2818482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Falta de transparencia de notas e faltas com os alunos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94744" y="468534"/>
            <a:ext cx="281848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FF862F"/>
                </a:solidFill>
                <a:latin typeface="HK Grotesk"/>
                <a:ea typeface="HK Grotesk"/>
                <a:cs typeface="HK Grotesk"/>
                <a:sym typeface="HK Grotesk"/>
              </a:rPr>
              <a:t>Solução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29616" y="947641"/>
            <a:ext cx="2497520" cy="102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183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 automatizado que faz chamada e lança nota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94744" y="4299230"/>
            <a:ext cx="281848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FF862F"/>
                </a:solidFill>
                <a:latin typeface="HK Grotesk"/>
                <a:ea typeface="HK Grotesk"/>
                <a:cs typeface="HK Grotesk"/>
                <a:sym typeface="HK Grotesk"/>
              </a:rPr>
              <a:t>Metricas-Chave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94744" y="4682697"/>
            <a:ext cx="2684107" cy="76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</a:pPr>
            <a:r>
              <a:rPr lang="en-US" sz="134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 professores e 10 alunos utilizam o sistema sem bugs e funcional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39150" y="483774"/>
            <a:ext cx="2818482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FF862F"/>
                </a:solidFill>
                <a:latin typeface="HK Grotesk"/>
                <a:ea typeface="HK Grotesk"/>
                <a:cs typeface="HK Grotesk"/>
                <a:sym typeface="HK Grotesk"/>
              </a:rPr>
              <a:t>Proposta de Valor Unico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90093" y="1428742"/>
            <a:ext cx="3107814" cy="393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18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o Professor: "Um diário de classe que funciona no modo avião e elimina as perguntas repetitivas dos alunos."</a:t>
            </a:r>
          </a:p>
          <a:p>
            <a:pPr algn="l">
              <a:lnSpc>
                <a:spcPts val="2825"/>
              </a:lnSpc>
            </a:pPr>
          </a:p>
          <a:p>
            <a:pPr algn="l">
              <a:lnSpc>
                <a:spcPts val="2825"/>
              </a:lnSpc>
            </a:pPr>
            <a:r>
              <a:rPr lang="en-US" sz="18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o Aluno: "Saiba sua nota e o que estudar para a prova antes de todo mundo, direto no celular."</a:t>
            </a:r>
          </a:p>
          <a:p>
            <a:pPr algn="l">
              <a:lnSpc>
                <a:spcPts val="2825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1322812" y="631411"/>
            <a:ext cx="2818482" cy="2448707"/>
            <a:chOff x="0" y="0"/>
            <a:chExt cx="3757976" cy="326494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9050"/>
              <a:ext cx="3757976" cy="466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400" u="none">
                  <a:solidFill>
                    <a:srgbClr val="FF862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Vantagem injusta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565557"/>
              <a:ext cx="3757976" cy="2699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3" action="ppaction://hlinksldjump"/>
                </a:rPr>
                <a:t>maioria dos concorrentes (NSA, Siga) são sistemas web pesados que exigem conexão constante. ao contrario desse que é leve e independente.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322812" y="4270655"/>
            <a:ext cx="281848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FF862F"/>
                </a:solidFill>
                <a:latin typeface="HK Grotesk"/>
                <a:ea typeface="HK Grotesk"/>
                <a:cs typeface="HK Grotesk"/>
                <a:sym typeface="HK Grotesk"/>
              </a:rPr>
              <a:t>Canais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22812" y="4643644"/>
            <a:ext cx="2818482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Apresentação direta com professores e gestores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924012" y="650461"/>
            <a:ext cx="281848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u="sng">
                <a:solidFill>
                  <a:srgbClr val="FF862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Segmentos Clientes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24012" y="1043673"/>
            <a:ext cx="2818482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Professores que usam Excel mas sofrem com a cobrança dos alunos, má compartilhamento e má funcionalidade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40977" y="8281716"/>
            <a:ext cx="8224660" cy="1077107"/>
            <a:chOff x="0" y="0"/>
            <a:chExt cx="10966214" cy="1436142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19050"/>
              <a:ext cx="10966214" cy="466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400" u="none">
                  <a:solidFill>
                    <a:srgbClr val="FF862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Estrutura de custos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565557"/>
              <a:ext cx="10966214" cy="870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Valor de baixo custo inicial  para a servidor cloud, desenvolvimento e hospedagem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22176" y="8281133"/>
            <a:ext cx="8224660" cy="1077107"/>
            <a:chOff x="0" y="0"/>
            <a:chExt cx="10966214" cy="1436142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19050"/>
              <a:ext cx="10966214" cy="466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4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862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Fontes de Receitas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565557"/>
              <a:ext cx="10966214" cy="870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3" action="ppaction://hlinksldjump"/>
                </a:rPr>
                <a:t>Ao longo do mvp seria gratuito e ao decorrer do progresso da plataforma, o planejamento é cobrar um valor a instituição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40977" y="2335791"/>
            <a:ext cx="2818482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 atual não escalavél e produtivo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1927" y="3285010"/>
            <a:ext cx="2818482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Interrupção constante sofrida pelo professor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911452" y="2942110"/>
            <a:ext cx="2818482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Alunos engajados que querem controlar a aprovação (notas + faltas).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129616" y="2252637"/>
            <a:ext cx="2870641" cy="131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175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Dashboards e menus para o feed do aluno, com notas,  faltas e plano de aula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22812" y="5505657"/>
            <a:ext cx="2818482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Grupos de Whatsapp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322812" y="6027626"/>
            <a:ext cx="2818482" cy="32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Emails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22812" y="6536403"/>
            <a:ext cx="2818482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Apresentaçãoem sala de aula com os alunos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994744" y="5703596"/>
            <a:ext cx="2632393" cy="50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9"/>
              </a:lnSpc>
            </a:pPr>
            <a:r>
              <a:rPr lang="en-US" sz="13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Professor sentir que os alunos perguntam menos sobre notas.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94744" y="6454546"/>
            <a:ext cx="3422943" cy="83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4"/>
              </a:lnSpc>
              <a:spcBef>
                <a:spcPct val="0"/>
              </a:spcBef>
            </a:pPr>
            <a:r>
              <a:rPr lang="en-US" sz="15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implementar o produto no ecossitema da fabrica de programadores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4620675" y="4396244"/>
            <a:ext cx="3410780" cy="3358014"/>
          </a:xfrm>
          <a:custGeom>
            <a:avLst/>
            <a:gdLst/>
            <a:ahLst/>
            <a:cxnLst/>
            <a:rect r="r" b="b" t="t" l="l"/>
            <a:pathLst>
              <a:path h="3358014" w="3410780">
                <a:moveTo>
                  <a:pt x="0" y="0"/>
                </a:moveTo>
                <a:lnTo>
                  <a:pt x="3410781" y="0"/>
                </a:lnTo>
                <a:lnTo>
                  <a:pt x="3410781" y="3358014"/>
                </a:lnTo>
                <a:lnTo>
                  <a:pt x="0" y="335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5" r="0" b="-78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329844" y="-350460"/>
            <a:ext cx="7063824" cy="10987919"/>
          </a:xfrm>
          <a:prstGeom prst="rect">
            <a:avLst/>
          </a:prstGeom>
          <a:solidFill>
            <a:srgbClr val="FF862F"/>
          </a:solidFill>
        </p:spPr>
      </p:sp>
      <p:sp>
        <p:nvSpPr>
          <p:cNvPr name="Freeform 3" id="3"/>
          <p:cNvSpPr/>
          <p:nvPr/>
        </p:nvSpPr>
        <p:spPr>
          <a:xfrm flipH="true" flipV="true" rot="3207686">
            <a:off x="-1261326" y="-3033957"/>
            <a:ext cx="7594048" cy="7594048"/>
          </a:xfrm>
          <a:custGeom>
            <a:avLst/>
            <a:gdLst/>
            <a:ahLst/>
            <a:cxnLst/>
            <a:rect r="r" b="b" t="t" l="l"/>
            <a:pathLst>
              <a:path h="7594048" w="7594048">
                <a:moveTo>
                  <a:pt x="7594048" y="7594048"/>
                </a:moveTo>
                <a:lnTo>
                  <a:pt x="0" y="7594048"/>
                </a:lnTo>
                <a:lnTo>
                  <a:pt x="0" y="0"/>
                </a:lnTo>
                <a:lnTo>
                  <a:pt x="7594048" y="0"/>
                </a:lnTo>
                <a:lnTo>
                  <a:pt x="7594048" y="7594048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5009" y="753542"/>
            <a:ext cx="5504153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0"/>
              </a:lnSpc>
            </a:pPr>
            <a:r>
              <a:rPr lang="en-US" sz="9500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Problema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101646" y="1486967"/>
            <a:ext cx="9157654" cy="1667755"/>
            <a:chOff x="0" y="0"/>
            <a:chExt cx="12210205" cy="222367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2210205" cy="1608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FF862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21% DOS ALUNOS JÁ TIVEREM SUPRESAS COM FALTAS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652173"/>
              <a:ext cx="12210205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01646" y="3913841"/>
            <a:ext cx="9157654" cy="1048630"/>
            <a:chOff x="0" y="0"/>
            <a:chExt cx="12210205" cy="139817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76200"/>
              <a:ext cx="1221020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b="true" sz="3500">
                  <a:solidFill>
                    <a:srgbClr val="FF862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68% NÃO SABEM SE VÃO PASSAR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26673"/>
              <a:ext cx="12210205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011523" y="5721589"/>
            <a:ext cx="9157654" cy="1048630"/>
            <a:chOff x="0" y="0"/>
            <a:chExt cx="12210205" cy="139817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76200"/>
              <a:ext cx="1221020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FF862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PROFESSOR PERDE 1-2H/SEMANA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826673"/>
              <a:ext cx="12210205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11523" y="7691207"/>
            <a:ext cx="9157654" cy="1048630"/>
            <a:chOff x="0" y="0"/>
            <a:chExt cx="12210205" cy="139817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76200"/>
              <a:ext cx="1221020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>
                  <a:solidFill>
                    <a:srgbClr val="FF862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TRABALHO MANUAL E REPETITIVO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826673"/>
              <a:ext cx="12210205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568436" y="-247383"/>
            <a:ext cx="1070024" cy="10781766"/>
          </a:xfrm>
          <a:prstGeom prst="rect">
            <a:avLst/>
          </a:prstGeom>
          <a:solidFill>
            <a:srgbClr val="FF862F"/>
          </a:solidFill>
        </p:spPr>
      </p:sp>
      <p:sp>
        <p:nvSpPr>
          <p:cNvPr name="Freeform 3" id="3"/>
          <p:cNvSpPr/>
          <p:nvPr/>
        </p:nvSpPr>
        <p:spPr>
          <a:xfrm flipH="false" flipV="false" rot="-8902459">
            <a:off x="17655364" y="6296242"/>
            <a:ext cx="4518794" cy="4518794"/>
          </a:xfrm>
          <a:custGeom>
            <a:avLst/>
            <a:gdLst/>
            <a:ahLst/>
            <a:cxnLst/>
            <a:rect r="r" b="b" t="t" l="l"/>
            <a:pathLst>
              <a:path h="4518794" w="4518794">
                <a:moveTo>
                  <a:pt x="0" y="0"/>
                </a:moveTo>
                <a:lnTo>
                  <a:pt x="4518794" y="0"/>
                </a:lnTo>
                <a:lnTo>
                  <a:pt x="4518794" y="4518794"/>
                </a:lnTo>
                <a:lnTo>
                  <a:pt x="0" y="451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6258" y="2309561"/>
            <a:ext cx="14105588" cy="1679187"/>
          </a:xfrm>
          <a:custGeom>
            <a:avLst/>
            <a:gdLst/>
            <a:ahLst/>
            <a:cxnLst/>
            <a:rect r="r" b="b" t="t" l="l"/>
            <a:pathLst>
              <a:path h="1679187" w="14105588">
                <a:moveTo>
                  <a:pt x="0" y="0"/>
                </a:moveTo>
                <a:lnTo>
                  <a:pt x="14105588" y="0"/>
                </a:lnTo>
                <a:lnTo>
                  <a:pt x="14105588" y="1679187"/>
                </a:lnTo>
                <a:lnTo>
                  <a:pt x="0" y="167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6567" r="0" b="-21594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05192" y="295275"/>
            <a:ext cx="6106286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9500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Solução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96258" y="7579113"/>
            <a:ext cx="14105588" cy="1679187"/>
          </a:xfrm>
          <a:custGeom>
            <a:avLst/>
            <a:gdLst/>
            <a:ahLst/>
            <a:cxnLst/>
            <a:rect r="r" b="b" t="t" l="l"/>
            <a:pathLst>
              <a:path h="1679187" w="14105588">
                <a:moveTo>
                  <a:pt x="0" y="0"/>
                </a:moveTo>
                <a:lnTo>
                  <a:pt x="14105588" y="0"/>
                </a:lnTo>
                <a:lnTo>
                  <a:pt x="14105588" y="1679187"/>
                </a:lnTo>
                <a:lnTo>
                  <a:pt x="0" y="167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00" t="-160906" r="0" b="-22153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90857" y="7779546"/>
            <a:ext cx="6106286" cy="1143880"/>
            <a:chOff x="0" y="0"/>
            <a:chExt cx="8141715" cy="152517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76200"/>
              <a:ext cx="814171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CONTADOR VISUAL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53673"/>
              <a:ext cx="8141715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Ex: </a:t>
              </a: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5" action="ppaction://hlinksldjump"/>
                </a:rPr>
                <a:t>“</a:t>
              </a: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Você pode faltar 3 vezes</a:t>
              </a: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5" action="ppaction://hlinksldjump"/>
                </a:rPr>
                <a:t>”</a:t>
              </a: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  <a:hlinkClick r:id="rId5" action="ppaction://hlinksldjump"/>
                </a:rPr>
                <a:t> 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96258" y="5006424"/>
            <a:ext cx="14198007" cy="1753947"/>
          </a:xfrm>
          <a:custGeom>
            <a:avLst/>
            <a:gdLst/>
            <a:ahLst/>
            <a:cxnLst/>
            <a:rect r="r" b="b" t="t" l="l"/>
            <a:pathLst>
              <a:path h="1753947" w="14198007">
                <a:moveTo>
                  <a:pt x="0" y="0"/>
                </a:moveTo>
                <a:lnTo>
                  <a:pt x="14198007" y="0"/>
                </a:lnTo>
                <a:lnTo>
                  <a:pt x="14198007" y="1753947"/>
                </a:lnTo>
                <a:lnTo>
                  <a:pt x="0" y="17539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2688" r="0" b="-202649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097281" y="5311457"/>
            <a:ext cx="7722108" cy="1143880"/>
            <a:chOff x="0" y="0"/>
            <a:chExt cx="10296145" cy="152517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76200"/>
              <a:ext cx="1029614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b="true" sz="35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CHAMADA EM 3 CLIQUES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53673"/>
              <a:ext cx="10296145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Notificação ao lançar nota/falta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834207" y="2577214"/>
            <a:ext cx="7722108" cy="1143880"/>
            <a:chOff x="0" y="0"/>
            <a:chExt cx="10296145" cy="152517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76200"/>
              <a:ext cx="1029614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b="true" sz="35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BACKUP AUTOMÁTICO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53673"/>
              <a:ext cx="10296145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9"/>
                </a:lnSpc>
              </a:pPr>
              <a:r>
                <a:rPr lang="en-US" sz="24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Funcionar sem internet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4712506">
            <a:off x="-745941" y="-2216601"/>
            <a:ext cx="8177950" cy="8177950"/>
          </a:xfrm>
          <a:custGeom>
            <a:avLst/>
            <a:gdLst/>
            <a:ahLst/>
            <a:cxnLst/>
            <a:rect r="r" b="b" t="t" l="l"/>
            <a:pathLst>
              <a:path h="8177950" w="8177950">
                <a:moveTo>
                  <a:pt x="8177949" y="8177950"/>
                </a:moveTo>
                <a:lnTo>
                  <a:pt x="0" y="8177950"/>
                </a:lnTo>
                <a:lnTo>
                  <a:pt x="0" y="0"/>
                </a:lnTo>
                <a:lnTo>
                  <a:pt x="8177949" y="0"/>
                </a:lnTo>
                <a:lnTo>
                  <a:pt x="8177949" y="817795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14793" y="1464503"/>
            <a:ext cx="8362950" cy="2387600"/>
            <a:chOff x="0" y="0"/>
            <a:chExt cx="11150600" cy="31834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827253" y="-76200"/>
              <a:ext cx="9323347" cy="3259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b="true">
                  <a:solidFill>
                    <a:srgbClr val="FBFFA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 PROFESSORES E 10 ALUNOS UTILIZAM O SISTEMA SEM BUGS E FUNCIONAL</a:t>
              </a:r>
            </a:p>
            <a:p>
              <a:pPr algn="l">
                <a:lnSpc>
                  <a:spcPts val="490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827253" y="1779173"/>
              <a:ext cx="9323347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9"/>
                </a:lnSpc>
                <a:spcBef>
                  <a:spcPct val="0"/>
                </a:spcBef>
              </a:pP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0" y="131795"/>
              <a:ext cx="1010487" cy="1268876"/>
            </a:xfrm>
            <a:custGeom>
              <a:avLst/>
              <a:gdLst/>
              <a:ahLst/>
              <a:cxnLst/>
              <a:rect r="r" b="b" t="t" l="l"/>
              <a:pathLst>
                <a:path h="1268876" w="1010487">
                  <a:moveTo>
                    <a:pt x="0" y="0"/>
                  </a:moveTo>
                  <a:lnTo>
                    <a:pt x="1010487" y="0"/>
                  </a:lnTo>
                  <a:lnTo>
                    <a:pt x="1010487" y="1268876"/>
                  </a:lnTo>
                  <a:lnTo>
                    <a:pt x="0" y="1268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19984" y="4620138"/>
            <a:ext cx="8357759" cy="1768475"/>
            <a:chOff x="0" y="0"/>
            <a:chExt cx="11143679" cy="235796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820331" y="-76200"/>
              <a:ext cx="9323347" cy="2434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b="true" sz="3500">
                  <a:solidFill>
                    <a:srgbClr val="FBFFA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PROFESSOR SENTIR QUE OS ALUNOS PERGUNTAM MENOS SOBRE NOTAS.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131795"/>
              <a:ext cx="996645" cy="1268876"/>
            </a:xfrm>
            <a:custGeom>
              <a:avLst/>
              <a:gdLst/>
              <a:ahLst/>
              <a:cxnLst/>
              <a:rect r="r" b="b" t="t" l="l"/>
              <a:pathLst>
                <a:path h="1268876" w="996645">
                  <a:moveTo>
                    <a:pt x="0" y="0"/>
                  </a:moveTo>
                  <a:lnTo>
                    <a:pt x="996645" y="0"/>
                  </a:lnTo>
                  <a:lnTo>
                    <a:pt x="996645" y="1268876"/>
                  </a:lnTo>
                  <a:lnTo>
                    <a:pt x="0" y="1268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634926" y="7485591"/>
            <a:ext cx="8248008" cy="1768475"/>
            <a:chOff x="0" y="0"/>
            <a:chExt cx="10997344" cy="235796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673997" y="-76200"/>
              <a:ext cx="9323347" cy="2434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b="true" sz="3500">
                  <a:solidFill>
                    <a:srgbClr val="FBFFA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IMPLEMENTAR O PRODUTO NO ECOSSITEMA DA FABRICA DE PROGRAMADORES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30819"/>
              <a:ext cx="857231" cy="1270828"/>
            </a:xfrm>
            <a:custGeom>
              <a:avLst/>
              <a:gdLst/>
              <a:ahLst/>
              <a:cxnLst/>
              <a:rect r="r" b="b" t="t" l="l"/>
              <a:pathLst>
                <a:path h="1270828" w="857231">
                  <a:moveTo>
                    <a:pt x="0" y="0"/>
                  </a:moveTo>
                  <a:lnTo>
                    <a:pt x="857231" y="0"/>
                  </a:lnTo>
                  <a:lnTo>
                    <a:pt x="857231" y="1270828"/>
                  </a:lnTo>
                  <a:lnTo>
                    <a:pt x="0" y="1270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85253" y="1331232"/>
            <a:ext cx="6578522" cy="91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2"/>
              </a:lnSpc>
            </a:pPr>
            <a:r>
              <a:rPr lang="en-US" sz="5968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MÉTRICAS-CHAVE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8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2397007" y="-2874410"/>
            <a:ext cx="13763121" cy="13763121"/>
          </a:xfrm>
          <a:custGeom>
            <a:avLst/>
            <a:gdLst/>
            <a:ahLst/>
            <a:cxnLst/>
            <a:rect r="r" b="b" t="t" l="l"/>
            <a:pathLst>
              <a:path h="13763121" w="13763121">
                <a:moveTo>
                  <a:pt x="13763121" y="13763121"/>
                </a:moveTo>
                <a:lnTo>
                  <a:pt x="0" y="13763121"/>
                </a:lnTo>
                <a:lnTo>
                  <a:pt x="0" y="0"/>
                </a:lnTo>
                <a:lnTo>
                  <a:pt x="13763121" y="0"/>
                </a:lnTo>
                <a:lnTo>
                  <a:pt x="13763121" y="13763121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37009" y="3094085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03538" y="-1165577"/>
            <a:ext cx="3636455" cy="4114800"/>
          </a:xfrm>
          <a:custGeom>
            <a:avLst/>
            <a:gdLst/>
            <a:ahLst/>
            <a:cxnLst/>
            <a:rect r="r" b="b" t="t" l="l"/>
            <a:pathLst>
              <a:path h="4114800" w="3636455">
                <a:moveTo>
                  <a:pt x="0" y="0"/>
                </a:moveTo>
                <a:lnTo>
                  <a:pt x="3636454" y="0"/>
                </a:lnTo>
                <a:lnTo>
                  <a:pt x="36364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31115" y="2419233"/>
            <a:ext cx="7030173" cy="5312172"/>
          </a:xfrm>
          <a:custGeom>
            <a:avLst/>
            <a:gdLst/>
            <a:ahLst/>
            <a:cxnLst/>
            <a:rect r="r" b="b" t="t" l="l"/>
            <a:pathLst>
              <a:path h="5312172" w="7030173">
                <a:moveTo>
                  <a:pt x="0" y="0"/>
                </a:moveTo>
                <a:lnTo>
                  <a:pt x="7030173" y="0"/>
                </a:lnTo>
                <a:lnTo>
                  <a:pt x="7030173" y="5312172"/>
                </a:lnTo>
                <a:lnTo>
                  <a:pt x="0" y="53121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7933" t="-8904" r="-37933" b="-4616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95887" y="891823"/>
            <a:ext cx="124962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Proposta de Valor Única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67375" y="2958521"/>
            <a:ext cx="9157654" cy="1048630"/>
            <a:chOff x="0" y="0"/>
            <a:chExt cx="12210205" cy="139817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76200"/>
              <a:ext cx="12210205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SIMULADOR DE APROVAÇÃO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826673"/>
              <a:ext cx="12210205" cy="57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540621" y="4391025"/>
            <a:ext cx="421116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Aluno digita : Tirei 5; 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Quantos preciso tirar para passar?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91112" y="5839375"/>
            <a:ext cx="651017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 Responde: você precisa de um 6.5 na proxima: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DAG6TFBTQS4</dc:identifier>
  <dcterms:modified xsi:type="dcterms:W3CDTF">2011-08-01T06:04:30Z</dcterms:modified>
  <cp:revision>1</cp:revision>
  <dc:title>Projeto-SIstema_Academico</dc:title>
</cp:coreProperties>
</file>